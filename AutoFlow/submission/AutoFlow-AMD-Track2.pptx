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2b8fd170de34732" /><Relationship Type="http://schemas.openxmlformats.org/officeDocument/2006/relationships/extended-properties" Target="/docProps/app.xml" Id="Rf29fcef2451d4e2a" /><Relationship Type="http://schemas.openxmlformats.org/officeDocument/2006/relationships/officeDocument" Target="/ppt/presentation.xml" Id="R7632e030628d428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ecc29dcd65740c4"/>
  </p:sldMasterIdLst>
  <p:notesMasterIdLst>
    <p:notesMasterId xmlns:r="http://schemas.openxmlformats.org/officeDocument/2006/relationships" r:id="R85f2a0c050d74f01"/>
  </p:notesMasterIdLst>
  <p:sldIdLst>
    <p:sldId xmlns:r="http://schemas.openxmlformats.org/officeDocument/2006/relationships" id="256" r:id="R920c85def5734b58"/>
    <p:sldId xmlns:r="http://schemas.openxmlformats.org/officeDocument/2006/relationships" id="257" r:id="Rc8c6a9f064ed4068"/>
    <p:sldId xmlns:r="http://schemas.openxmlformats.org/officeDocument/2006/relationships" id="258" r:id="Rbcb79ae4ba644ef8"/>
    <p:sldId xmlns:r="http://schemas.openxmlformats.org/officeDocument/2006/relationships" id="259" r:id="R38dbd999543a4ffa"/>
    <p:sldId xmlns:r="http://schemas.openxmlformats.org/officeDocument/2006/relationships" id="260" r:id="R89e0e2dc8da344ce"/>
    <p:sldId xmlns:r="http://schemas.openxmlformats.org/officeDocument/2006/relationships" id="261" r:id="Re2d8f118969745d7"/>
    <p:sldId xmlns:r="http://schemas.openxmlformats.org/officeDocument/2006/relationships" id="262" r:id="R35ea0d1854894c7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f338b07ef544a13" /><Relationship Type="http://schemas.openxmlformats.org/officeDocument/2006/relationships/slideMaster" Target="/ppt/slideMasters/slideMaster1.xml" Id="R7ecc29dcd65740c4" /><Relationship Type="http://schemas.openxmlformats.org/officeDocument/2006/relationships/notesMaster" Target="/ppt/notesMasters/notesMaster1.xml" Id="R85f2a0c050d74f01" /><Relationship Type="http://schemas.openxmlformats.org/officeDocument/2006/relationships/presProps" Target="/ppt/presProps.xml" Id="R8c642e0ce78745cc" /><Relationship Type="http://schemas.openxmlformats.org/officeDocument/2006/relationships/tableStyles" Target="/ppt/tableStyles.xml" Id="R61e8de199d8a4aa5" /><Relationship Type="http://schemas.openxmlformats.org/officeDocument/2006/relationships/slide" Target="/ppt/slides/slide1.xml" Id="R920c85def5734b58" /><Relationship Type="http://schemas.openxmlformats.org/officeDocument/2006/relationships/slide" Target="/ppt/slides/slide2.xml" Id="Rc8c6a9f064ed4068" /><Relationship Type="http://schemas.openxmlformats.org/officeDocument/2006/relationships/slide" Target="/ppt/slides/slide3.xml" Id="Rbcb79ae4ba644ef8" /><Relationship Type="http://schemas.openxmlformats.org/officeDocument/2006/relationships/slide" Target="/ppt/slides/slide4.xml" Id="R38dbd999543a4ffa" /><Relationship Type="http://schemas.openxmlformats.org/officeDocument/2006/relationships/slide" Target="/ppt/slides/slide5.xml" Id="R89e0e2dc8da344ce" /><Relationship Type="http://schemas.openxmlformats.org/officeDocument/2006/relationships/slide" Target="/ppt/slides/slide6.xml" Id="Re2d8f118969745d7" /><Relationship Type="http://schemas.openxmlformats.org/officeDocument/2006/relationships/slide" Target="/ppt/slides/slide7.xml" Id="R35ea0d1854894c7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c077a7ee475431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317f3772093499b" /><Relationship Type="http://schemas.openxmlformats.org/officeDocument/2006/relationships/notesMaster" Target="/ppt/notesMasters/notesMaster1.xml" Id="Rc8db310208f7433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3d45e6ab31146fe" /><Relationship Type="http://schemas.openxmlformats.org/officeDocument/2006/relationships/notesMaster" Target="/ppt/notesMasters/notesMaster1.xml" Id="R1bbb2e4c8b7b403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403dc7afb2148ad" /><Relationship Type="http://schemas.openxmlformats.org/officeDocument/2006/relationships/notesMaster" Target="/ppt/notesMasters/notesMaster1.xml" Id="Rdb30a969b04246a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2f871cdcdf04bdb" /><Relationship Type="http://schemas.openxmlformats.org/officeDocument/2006/relationships/notesMaster" Target="/ppt/notesMasters/notesMaster1.xml" Id="Raf1a1d5689f14b2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5b80e4b0fab4809" /><Relationship Type="http://schemas.openxmlformats.org/officeDocument/2006/relationships/notesMaster" Target="/ppt/notesMasters/notesMaster1.xml" Id="R9d32bc3bd3414f4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a3bfaef4deb4a65" /><Relationship Type="http://schemas.openxmlformats.org/officeDocument/2006/relationships/notesMaster" Target="/ppt/notesMasters/notesMaster1.xml" Id="R1af0d08f59ca4ff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49bdc808eaa4547" /><Relationship Type="http://schemas.openxmlformats.org/officeDocument/2006/relationships/notesMaster" Target="/ppt/notesMasters/notesMaster1.xml" Id="R4e2a19c15e774a6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AutoFlow repository and submission documentation.</a:t>
            </a:r>
          </a:p>
          <a:p xmlns:a="http://schemas.openxmlformats.org/drawingml/2006/main">
            <a:r>
              <a:t>- AMD competition requirements: https://github.com/AMD-DEV-CONTEST/Radeon-hackathon-2026-07/blob/main/README.md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AutoFlow product behavior and architecture.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AutoFlow README, tools, and workflow implementation.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AutoFlow architecture and source code.</a:t>
            </a:r>
          </a:p>
          <a:p xmlns:a="http://schemas.openxmlformats.org/drawingml/2006/main">
            <a:r>
              <a:t>- Radeon Cloud supports OpenAI-compatible shared and dedicated endpoints: https://github.com/AMD-DEV-CONTEST/Radeon-hackathon-2026-07/blob/main/Radeon-Cloud-User%20Guide/README.md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AMD Radeon Cloud user guide: https://github.com/AMD-DEV-CONTEST/Radeon-hackathon-2026-07/blob/main/Radeon-Cloud-User%20Guide/README.md</a:t>
            </a:r>
          </a:p>
          <a:p xmlns:a="http://schemas.openxmlformats.org/drawingml/2006/main">
            <a:r>
              <a:t>- Local AutoFlow amd.py and benchmark scripts.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AutoFlow security, Web UI, tests, and evidence scripts.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AMD submission requirements: https://github.com/AMD-DEV-CONTEST/Radeon-hackathon-2026-07/blob/main/README.md</a:t>
            </a:r>
          </a:p>
          <a:p xmlns:a="http://schemas.openxmlformats.org/drawingml/2006/main">
            <a:r>
              <a:t>- Local AutoFlow submission checklist and evidence policy.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b7dddd691f4a6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9302ffa19694253" /><Relationship Type="http://schemas.openxmlformats.org/officeDocument/2006/relationships/slideLayout" Target="/ppt/slideLayouts/slideLayout1.xml" Id="R6c8f4be81dc1492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c8f4be81dc1492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70ecf0611c423a" /><Relationship Type="http://schemas.openxmlformats.org/officeDocument/2006/relationships/notesSlide" Target="/ppt/notesSlides/notesSlide1.xml" Id="R1a5fb0919d4b442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1390df32ae4467" /><Relationship Type="http://schemas.openxmlformats.org/officeDocument/2006/relationships/notesSlide" Target="/ppt/notesSlides/notesSlide2.xml" Id="R1ea534e15d384a8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987c59b621457f" /><Relationship Type="http://schemas.openxmlformats.org/officeDocument/2006/relationships/notesSlide" Target="/ppt/notesSlides/notesSlide3.xml" Id="Rf63416daaeee443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1c31b93f09406d" /><Relationship Type="http://schemas.openxmlformats.org/officeDocument/2006/relationships/notesSlide" Target="/ppt/notesSlides/notesSlide4.xml" Id="R7124e7298cb64a7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77a17a87cb44bf" /><Relationship Type="http://schemas.openxmlformats.org/officeDocument/2006/relationships/notesSlide" Target="/ppt/notesSlides/notesSlide5.xml" Id="R7f5ddb1bcea9488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b254d0c70344b3" /><Relationship Type="http://schemas.openxmlformats.org/officeDocument/2006/relationships/notesSlide" Target="/ppt/notesSlides/notesSlide6.xml" Id="Rf11ab738260e461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7b958c5a2f4be2" /><Relationship Type="http://schemas.openxmlformats.org/officeDocument/2006/relationships/notesSlide" Target="/ppt/notesSlides/notesSlide7.xml" Id="R844520bcf26141b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2C60C1F7-4013-48B4-AD9C-BD3CF60EA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AMD AI DEVMASTER | TRACK 2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4D0AB802-4AF1-4861-B41C-D7545A378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7239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60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AutoFlow</a:t>
            </a:r>
          </a:p>
        </p:txBody>
      </p:sp>
      <p:sp>
        <p:nvSpPr>
          <p:cNvPr id="3" name="cover-thesis">
            <a:extLst xmlns:a="http://schemas.openxmlformats.org/drawingml/2006/main">
              <a:ext uri="{FF2B5EF4-FFF2-40B4-BE49-F238E27FC236}">
                <a16:creationId xmlns:a16="http://schemas.microsoft.com/office/drawing/2014/main" id="{168495A1-4FFC-49E8-9D5C-E6D6240FE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0"/>
            <a:ext cx="7429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 private desktop agent that turns plain-language intent into safe, observable work.</a:t>
            </a:r>
          </a:p>
        </p:txBody>
      </p:sp>
      <p:sp>
        <p:nvSpPr>
          <p:cNvPr id="4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40E3CC70-F166-40A8-9E5A-A1E9FBF4D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857250"/>
            <a:ext cx="257175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over-accent-1">
            <a:extLst xmlns:a="http://schemas.openxmlformats.org/drawingml/2006/main">
              <a:ext uri="{FF2B5EF4-FFF2-40B4-BE49-F238E27FC236}">
                <a16:creationId xmlns:a16="http://schemas.microsoft.com/office/drawing/2014/main" id="{04F87201-1142-4FD2-987E-0558B47B4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285875"/>
            <a:ext cx="2000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LOCAL</a:t>
            </a:r>
          </a:p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CONTROL</a:t>
            </a:r>
          </a:p>
        </p:txBody>
      </p:sp>
      <p:cxnSp>
        <p:nvCxnSpPr>
          <p:cNvPr id="14" name="rule-960-276"/>
          <p:cNvCxnSpPr/>
          <p:nvPr/>
        </p:nvCxnSpPr>
        <p:spPr>
          <a:xfrm xmlns:a="http://schemas.openxmlformats.org/drawingml/2006/main">
            <a:off x="9144000" y="262890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3D8DFF"/>
            </a:solidFill>
            <a:prstDash val="solid"/>
          </a:ln>
        </p:spPr>
      </p:cxnSp>
      <p:sp>
        <p:nvSpPr>
          <p:cNvPr id="7" name="cover-accent-2">
            <a:extLst xmlns:a="http://schemas.openxmlformats.org/drawingml/2006/main">
              <a:ext uri="{FF2B5EF4-FFF2-40B4-BE49-F238E27FC236}">
                <a16:creationId xmlns:a16="http://schemas.microsoft.com/office/drawing/2014/main" id="{AB213DAD-C906-42F6-B1EC-60BD23A3B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952750"/>
            <a:ext cx="2000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AMD Radeon</a:t>
            </a:r>
          </a:p>
          <a:p xmlns:a="http://schemas.openxmlformats.org/drawingml/2006/main">
            <a:pPr algn="l">
              <a:defRPr sz="19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+ ROCm ready</a:t>
            </a:r>
          </a:p>
        </p:txBody>
      </p:sp>
      <p:sp>
        <p:nvSpPr>
          <p:cNvPr id="8" name="cover-accent-3">
            <a:extLst xmlns:a="http://schemas.openxmlformats.org/drawingml/2006/main">
              <a:ext uri="{FF2B5EF4-FFF2-40B4-BE49-F238E27FC236}">
                <a16:creationId xmlns:a16="http://schemas.microsoft.com/office/drawing/2014/main" id="{C7790F6A-BCCF-47C9-90A7-7472CFE90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819650"/>
            <a:ext cx="200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6DAE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6DAE1"/>
                </a:solidFill>
                <a:latin typeface="Arial"/>
                <a:ea typeface="Arial"/>
                <a:cs typeface="Arial"/>
              </a:rPr>
              <a:t>Submission candidate</a:t>
            </a:r>
          </a:p>
          <a:p xmlns:a="http://schemas.openxmlformats.org/drawingml/2006/main">
            <a:pPr algn="l">
              <a:defRPr sz="1350" b="0">
                <a:solidFill>
                  <a:srgbClr val="D6DAE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6DAE1"/>
                </a:solidFill>
                <a:latin typeface="Arial"/>
                <a:ea typeface="Arial"/>
                <a:cs typeface="Arial"/>
              </a:rPr>
              <a:t>August 2026</a:t>
            </a:r>
          </a:p>
        </p:txBody>
      </p:sp>
    </p:spTree>
    <p:extLst>
      <p:ext uri="{BB962C8B-B14F-4D97-AF65-F5344CB8AC3E}">
        <p14:creationId xmlns:p14="http://schemas.microsoft.com/office/powerpoint/2010/main" val="58586062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-2">
            <a:extLst xmlns:a="http://schemas.openxmlformats.org/drawingml/2006/main">
              <a:ext uri="{FF2B5EF4-FFF2-40B4-BE49-F238E27FC236}">
                <a16:creationId xmlns:a16="http://schemas.microsoft.com/office/drawing/2014/main" id="{155171AA-1904-4292-8C4F-599C115D8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THE USER PROBLEM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0AA83919-47CD-4E67-B1FF-356973C30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14375"/>
            <a:ext cx="11391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Desktop work is still trapped behind brittle steps</a:t>
            </a:r>
          </a:p>
        </p:txBody>
      </p:sp>
      <p:sp>
        <p:nvSpPr>
          <p:cNvPr id="3" name="page-2">
            <a:extLst xmlns:a="http://schemas.openxmlformats.org/drawingml/2006/main">
              <a:ext uri="{FF2B5EF4-FFF2-40B4-BE49-F238E27FC236}">
                <a16:creationId xmlns:a16="http://schemas.microsoft.com/office/drawing/2014/main" id="{A32A1773-F4A2-4634-B349-863778131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D62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26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problem">
            <a:extLst xmlns:a="http://schemas.openxmlformats.org/drawingml/2006/main">
              <a:ext uri="{FF2B5EF4-FFF2-40B4-BE49-F238E27FC236}">
                <a16:creationId xmlns:a16="http://schemas.microsoft.com/office/drawing/2014/main" id="{C368EE96-1294-45DE-A6CD-8FCFDF3CB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5286375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olution">
            <a:extLst xmlns:a="http://schemas.openxmlformats.org/drawingml/2006/main">
              <a:ext uri="{FF2B5EF4-FFF2-40B4-BE49-F238E27FC236}">
                <a16:creationId xmlns:a16="http://schemas.microsoft.com/office/drawing/2014/main" id="{E24FEACF-9BC0-4DCD-A4E2-1A604B880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09750"/>
            <a:ext cx="56959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roblem-label">
            <a:extLst xmlns:a="http://schemas.openxmlformats.org/drawingml/2006/main">
              <a:ext uri="{FF2B5EF4-FFF2-40B4-BE49-F238E27FC236}">
                <a16:creationId xmlns:a16="http://schemas.microsoft.com/office/drawing/2014/main" id="{30271359-CC17-441B-8590-0766B93E8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66B7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66B73"/>
                </a:solidFill>
                <a:latin typeface="Arial"/>
                <a:ea typeface="Arial"/>
                <a:cs typeface="Arial"/>
              </a:rPr>
              <a:t>TODAY</a:t>
            </a:r>
          </a:p>
        </p:txBody>
      </p:sp>
      <p:sp>
        <p:nvSpPr>
          <p:cNvPr id="7" name="problem-main">
            <a:extLst xmlns:a="http://schemas.openxmlformats.org/drawingml/2006/main">
              <a:ext uri="{FF2B5EF4-FFF2-40B4-BE49-F238E27FC236}">
                <a16:creationId xmlns:a16="http://schemas.microsoft.com/office/drawing/2014/main" id="{5A460722-0DC0-4878-A807-8846FD8C9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452437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Users translate intent into clicks, paths, dialogs, and repeated confirmation.</a:t>
            </a:r>
          </a:p>
        </p:txBody>
      </p:sp>
      <p:sp>
        <p:nvSpPr>
          <p:cNvPr id="8" name="problem-detail">
            <a:extLst xmlns:a="http://schemas.openxmlformats.org/drawingml/2006/main">
              <a:ext uri="{FF2B5EF4-FFF2-40B4-BE49-F238E27FC236}">
                <a16:creationId xmlns:a16="http://schemas.microsoft.com/office/drawing/2014/main" id="{80C55071-F6F8-40B0-9EB6-1BED5B338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00550"/>
            <a:ext cx="452437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D515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D5158"/>
                </a:solidFill>
                <a:latin typeface="Arial"/>
                <a:ea typeface="Arial"/>
                <a:cs typeface="Arial"/>
              </a:rPr>
              <a:t>Recorded coordinates break when windows move. Visible automation steals focus. One-purpose scripts do not generalize.</a:t>
            </a:r>
          </a:p>
        </p:txBody>
      </p:sp>
      <p:sp>
        <p:nvSpPr>
          <p:cNvPr id="9" name="solution-label">
            <a:extLst xmlns:a="http://schemas.openxmlformats.org/drawingml/2006/main">
              <a:ext uri="{FF2B5EF4-FFF2-40B4-BE49-F238E27FC236}">
                <a16:creationId xmlns:a16="http://schemas.microsoft.com/office/drawing/2014/main" id="{8B1E9E1E-78BD-4786-B9B2-184A66EB9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955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AUTOFLOW</a:t>
            </a:r>
          </a:p>
        </p:txBody>
      </p:sp>
      <p:sp>
        <p:nvSpPr>
          <p:cNvPr id="10" name="solution-main">
            <a:extLst xmlns:a="http://schemas.openxmlformats.org/drawingml/2006/main">
              <a:ext uri="{FF2B5EF4-FFF2-40B4-BE49-F238E27FC236}">
                <a16:creationId xmlns:a16="http://schemas.microsoft.com/office/drawing/2014/main" id="{52AD465F-1D5D-4BB3-8176-87AF2A8EF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47950"/>
            <a:ext cx="48577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Describe the outcome. AutoFlow plans, executes in the background, and reports the result.</a:t>
            </a:r>
          </a:p>
        </p:txBody>
      </p:sp>
      <p:sp>
        <p:nvSpPr>
          <p:cNvPr id="11" name="solution-detail">
            <a:extLst xmlns:a="http://schemas.openxmlformats.org/drawingml/2006/main">
              <a:ext uri="{FF2B5EF4-FFF2-40B4-BE49-F238E27FC236}">
                <a16:creationId xmlns:a16="http://schemas.microsoft.com/office/drawing/2014/main" id="{08812AC4-ABED-4CF0-8676-133B1FF89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572000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6DAE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D6DAE1"/>
                </a:solidFill>
                <a:latin typeface="Arial"/>
                <a:ea typeface="Arial"/>
                <a:cs typeface="Arial"/>
              </a:rPr>
              <a:t>Browser work can run headlessly; local actions stay permission-aware and auditable.</a:t>
            </a:r>
          </a:p>
        </p:txBody>
      </p:sp>
    </p:spTree>
    <p:extLst>
      <p:ext uri="{BB962C8B-B14F-4D97-AF65-F5344CB8AC3E}">
        <p14:creationId xmlns:p14="http://schemas.microsoft.com/office/powerpoint/2010/main" val="159698572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-3">
            <a:extLst xmlns:a="http://schemas.openxmlformats.org/drawingml/2006/main">
              <a:ext uri="{FF2B5EF4-FFF2-40B4-BE49-F238E27FC236}">
                <a16:creationId xmlns:a16="http://schemas.microsoft.com/office/drawing/2014/main" id="{1B804212-6084-4899-9548-D8FBECB7B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WHAT IT DOES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9FEE3A25-8CA6-428A-82AD-E46D1290E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14375"/>
            <a:ext cx="11391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One request can become a complete, observable workflow</a:t>
            </a:r>
          </a:p>
        </p:txBody>
      </p:sp>
      <p:sp>
        <p:nvSpPr>
          <p:cNvPr id="3" name="page-3">
            <a:extLst xmlns:a="http://schemas.openxmlformats.org/drawingml/2006/main">
              <a:ext uri="{FF2B5EF4-FFF2-40B4-BE49-F238E27FC236}">
                <a16:creationId xmlns:a16="http://schemas.microsoft.com/office/drawing/2014/main" id="{952A8CD2-AEB5-4FB6-8B02-DFFF36FB6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D62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26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card-01">
            <a:extLst xmlns:a="http://schemas.openxmlformats.org/drawingml/2006/main">
              <a:ext uri="{FF2B5EF4-FFF2-40B4-BE49-F238E27FC236}">
                <a16:creationId xmlns:a16="http://schemas.microsoft.com/office/drawing/2014/main" id="{7C5FCB30-0196-45E9-88FE-381944A35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3581400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ard-num-01">
            <a:extLst xmlns:a="http://schemas.openxmlformats.org/drawingml/2006/main">
              <a:ext uri="{FF2B5EF4-FFF2-40B4-BE49-F238E27FC236}">
                <a16:creationId xmlns:a16="http://schemas.microsoft.com/office/drawing/2014/main" id="{32A2CFFF-CFD8-41DB-9FFB-2CEA2A08F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card-title-01">
            <a:extLst xmlns:a="http://schemas.openxmlformats.org/drawingml/2006/main">
              <a:ext uri="{FF2B5EF4-FFF2-40B4-BE49-F238E27FC236}">
                <a16:creationId xmlns:a16="http://schemas.microsoft.com/office/drawing/2014/main" id="{F12BEB00-BAB9-4C19-A896-8A26F0670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30289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Files &amp; documents</a:t>
            </a:r>
          </a:p>
        </p:txBody>
      </p:sp>
      <p:sp>
        <p:nvSpPr>
          <p:cNvPr id="7" name="card-copy-01">
            <a:extLst xmlns:a="http://schemas.openxmlformats.org/drawingml/2006/main">
              <a:ext uri="{FF2B5EF4-FFF2-40B4-BE49-F238E27FC236}">
                <a16:creationId xmlns:a16="http://schemas.microsoft.com/office/drawing/2014/main" id="{DA640B2C-6254-4B33-9EE1-FF8B478F0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05250"/>
            <a:ext cx="30289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Find PDFs, extract text, convert formats, and save to an exact destination.</a:t>
            </a:r>
          </a:p>
        </p:txBody>
      </p:sp>
      <p:sp>
        <p:nvSpPr>
          <p:cNvPr id="8" name="card-02">
            <a:extLst xmlns:a="http://schemas.openxmlformats.org/drawingml/2006/main">
              <a:ext uri="{FF2B5EF4-FFF2-40B4-BE49-F238E27FC236}">
                <a16:creationId xmlns:a16="http://schemas.microsoft.com/office/drawing/2014/main" id="{2DFA862B-4207-4084-A13E-92ABC3D97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952625"/>
            <a:ext cx="3581400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ard-num-02">
            <a:extLst xmlns:a="http://schemas.openxmlformats.org/drawingml/2006/main">
              <a:ext uri="{FF2B5EF4-FFF2-40B4-BE49-F238E27FC236}">
                <a16:creationId xmlns:a16="http://schemas.microsoft.com/office/drawing/2014/main" id="{5304AEAF-F08E-4D58-A22F-D83CDE944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19075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card-title-02">
            <a:extLst xmlns:a="http://schemas.openxmlformats.org/drawingml/2006/main">
              <a:ext uri="{FF2B5EF4-FFF2-40B4-BE49-F238E27FC236}">
                <a16:creationId xmlns:a16="http://schemas.microsoft.com/office/drawing/2014/main" id="{3455E142-7F60-4544-9501-8C3CC5224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905125"/>
            <a:ext cx="30289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Applications</a:t>
            </a:r>
          </a:p>
        </p:txBody>
      </p:sp>
      <p:sp>
        <p:nvSpPr>
          <p:cNvPr id="11" name="card-copy-02">
            <a:extLst xmlns:a="http://schemas.openxmlformats.org/drawingml/2006/main">
              <a:ext uri="{FF2B5EF4-FFF2-40B4-BE49-F238E27FC236}">
                <a16:creationId xmlns:a16="http://schemas.microsoft.com/office/drawing/2014/main" id="{03B14F87-AA27-4D1D-9DED-11E857580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905250"/>
            <a:ext cx="30289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Resolve and launch installed Windows applications without recorded coordinates.</a:t>
            </a:r>
          </a:p>
        </p:txBody>
      </p:sp>
      <p:sp>
        <p:nvSpPr>
          <p:cNvPr id="12" name="card-03">
            <a:extLst xmlns:a="http://schemas.openxmlformats.org/drawingml/2006/main">
              <a:ext uri="{FF2B5EF4-FFF2-40B4-BE49-F238E27FC236}">
                <a16:creationId xmlns:a16="http://schemas.microsoft.com/office/drawing/2014/main" id="{7D266DFA-2317-4999-813A-CF059ED67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952625"/>
            <a:ext cx="3581400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card-num-03">
            <a:extLst xmlns:a="http://schemas.openxmlformats.org/drawingml/2006/main">
              <a:ext uri="{FF2B5EF4-FFF2-40B4-BE49-F238E27FC236}">
                <a16:creationId xmlns:a16="http://schemas.microsoft.com/office/drawing/2014/main" id="{9F5209D5-9B81-449D-96D7-F3111259D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9075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card-title-03">
            <a:extLst xmlns:a="http://schemas.openxmlformats.org/drawingml/2006/main">
              <a:ext uri="{FF2B5EF4-FFF2-40B4-BE49-F238E27FC236}">
                <a16:creationId xmlns:a16="http://schemas.microsoft.com/office/drawing/2014/main" id="{724DAF52-9929-45D1-BF53-FAB7A9350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905125"/>
            <a:ext cx="30289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Web tasks</a:t>
            </a:r>
          </a:p>
        </p:txBody>
      </p:sp>
      <p:sp>
        <p:nvSpPr>
          <p:cNvPr id="15" name="card-copy-03">
            <a:extLst xmlns:a="http://schemas.openxmlformats.org/drawingml/2006/main">
              <a:ext uri="{FF2B5EF4-FFF2-40B4-BE49-F238E27FC236}">
                <a16:creationId xmlns:a16="http://schemas.microsoft.com/office/drawing/2014/main" id="{8A8C35E6-177D-4F6A-8C6E-80E833555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905250"/>
            <a:ext cx="30289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Navigate, search, and complete browser work in a headless execution session.</a:t>
            </a:r>
          </a:p>
        </p:txBody>
      </p:sp>
    </p:spTree>
    <p:extLst>
      <p:ext uri="{BB962C8B-B14F-4D97-AF65-F5344CB8AC3E}">
        <p14:creationId xmlns:p14="http://schemas.microsoft.com/office/powerpoint/2010/main" val="150789434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eyebrow-4">
            <a:extLst xmlns:a="http://schemas.openxmlformats.org/drawingml/2006/main">
              <a:ext uri="{FF2B5EF4-FFF2-40B4-BE49-F238E27FC236}">
                <a16:creationId xmlns:a16="http://schemas.microsoft.com/office/drawing/2014/main" id="{B5D2A073-1DB1-4301-9BDB-D607DD243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SYSTEM DESIGN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BA72D2CD-F7CD-4F23-AB33-886F22F87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14375"/>
            <a:ext cx="11391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model decides intent; deterministic tools do the work</a:t>
            </a:r>
          </a:p>
        </p:txBody>
      </p:sp>
      <p:sp>
        <p:nvSpPr>
          <p:cNvPr id="3" name="page-4">
            <a:extLst xmlns:a="http://schemas.openxmlformats.org/drawingml/2006/main">
              <a:ext uri="{FF2B5EF4-FFF2-40B4-BE49-F238E27FC236}">
                <a16:creationId xmlns:a16="http://schemas.microsoft.com/office/drawing/2014/main" id="{0907F35B-FA63-4AD9-930E-895B97E87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D62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26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arch-1">
            <a:extLst xmlns:a="http://schemas.openxmlformats.org/drawingml/2006/main">
              <a:ext uri="{FF2B5EF4-FFF2-40B4-BE49-F238E27FC236}">
                <a16:creationId xmlns:a16="http://schemas.microsoft.com/office/drawing/2014/main" id="{0959F4E7-00C0-4DD5-8873-CBE5C1506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0"/>
            <a:ext cx="1952625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arch-n-1">
            <a:extLst xmlns:a="http://schemas.openxmlformats.org/drawingml/2006/main">
              <a:ext uri="{FF2B5EF4-FFF2-40B4-BE49-F238E27FC236}">
                <a16:creationId xmlns:a16="http://schemas.microsoft.com/office/drawing/2014/main" id="{2F5334E0-32FB-45CD-90BB-071442BE7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622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arch-t-1">
            <a:extLst xmlns:a="http://schemas.openxmlformats.org/drawingml/2006/main">
              <a:ext uri="{FF2B5EF4-FFF2-40B4-BE49-F238E27FC236}">
                <a16:creationId xmlns:a16="http://schemas.microsoft.com/office/drawing/2014/main" id="{B9997594-AF1B-4DA1-9DE5-1B4CFFE3B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76550"/>
            <a:ext cx="1571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27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User request</a:t>
            </a:r>
          </a:p>
        </p:txBody>
      </p:sp>
      <p:sp>
        <p:nvSpPr>
          <p:cNvPr id="7" name="arch-d-1">
            <a:extLst xmlns:a="http://schemas.openxmlformats.org/drawingml/2006/main">
              <a:ext uri="{FF2B5EF4-FFF2-40B4-BE49-F238E27FC236}">
                <a16:creationId xmlns:a16="http://schemas.microsoft.com/office/drawing/2014/main" id="{87552D8D-A4E4-4CA6-AC20-62A21BE2B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957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D515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D5158"/>
                </a:solidFill>
                <a:latin typeface="Arial"/>
                <a:ea typeface="Arial"/>
                <a:cs typeface="Arial"/>
              </a:rPr>
              <a:t>Natural language</a:t>
            </a:r>
          </a:p>
          <a:p xmlns:a="http://schemas.openxmlformats.org/drawingml/2006/main">
            <a:pPr algn="l">
              <a:defRPr sz="1350" b="0">
                <a:solidFill>
                  <a:srgbClr val="4D515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D5158"/>
                </a:solidFill>
                <a:latin typeface="Arial"/>
                <a:ea typeface="Arial"/>
                <a:cs typeface="Arial"/>
              </a:rPr>
              <a:t>from the Web UI</a:t>
            </a:r>
          </a:p>
        </p:txBody>
      </p:sp>
      <p:sp>
        <p:nvSpPr>
          <p:cNvPr id="8" name="arrow-0">
            <a:extLst xmlns:a="http://schemas.openxmlformats.org/drawingml/2006/main">
              <a:ext uri="{FF2B5EF4-FFF2-40B4-BE49-F238E27FC236}">
                <a16:creationId xmlns:a16="http://schemas.microsoft.com/office/drawing/2014/main" id="{FB472FC5-A922-4030-868D-411B14E7C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219450"/>
            <a:ext cx="342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444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&gt;</a:t>
            </a:r>
          </a:p>
        </p:txBody>
      </p:sp>
      <p:sp>
        <p:nvSpPr>
          <p:cNvPr id="9" name="arch-2">
            <a:extLst xmlns:a="http://schemas.openxmlformats.org/drawingml/2006/main">
              <a:ext uri="{FF2B5EF4-FFF2-40B4-BE49-F238E27FC236}">
                <a16:creationId xmlns:a16="http://schemas.microsoft.com/office/drawing/2014/main" id="{568FF4BD-E3AE-48D8-9F21-6FA3FBBEE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190750"/>
            <a:ext cx="1952625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arch-n-2">
            <a:extLst xmlns:a="http://schemas.openxmlformats.org/drawingml/2006/main">
              <a:ext uri="{FF2B5EF4-FFF2-40B4-BE49-F238E27FC236}">
                <a16:creationId xmlns:a16="http://schemas.microsoft.com/office/drawing/2014/main" id="{DC613CB9-E877-40BB-BFAF-69BBB306F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3622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arch-t-2">
            <a:extLst xmlns:a="http://schemas.openxmlformats.org/drawingml/2006/main">
              <a:ext uri="{FF2B5EF4-FFF2-40B4-BE49-F238E27FC236}">
                <a16:creationId xmlns:a16="http://schemas.microsoft.com/office/drawing/2014/main" id="{0FAEEC32-5D40-4CBD-A42C-3B4FF6A36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876550"/>
            <a:ext cx="1571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333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Agent planner</a:t>
            </a:r>
          </a:p>
        </p:txBody>
      </p:sp>
      <p:sp>
        <p:nvSpPr>
          <p:cNvPr id="12" name="arch-d-2">
            <a:extLst xmlns:a="http://schemas.openxmlformats.org/drawingml/2006/main">
              <a:ext uri="{FF2B5EF4-FFF2-40B4-BE49-F238E27FC236}">
                <a16:creationId xmlns:a16="http://schemas.microsoft.com/office/drawing/2014/main" id="{36C9ED97-3DFB-44BD-BDEE-421D53563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6957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21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6DAE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6DAE1"/>
                </a:solidFill>
                <a:latin typeface="Arial"/>
                <a:ea typeface="Arial"/>
                <a:cs typeface="Arial"/>
              </a:rPr>
              <a:t>Provider-neutral</a:t>
            </a:r>
          </a:p>
          <a:p xmlns:a="http://schemas.openxmlformats.org/drawingml/2006/main">
            <a:pPr algn="l">
              <a:defRPr sz="1350" b="0">
                <a:solidFill>
                  <a:srgbClr val="D6DAE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6DAE1"/>
                </a:solidFill>
                <a:latin typeface="Arial"/>
                <a:ea typeface="Arial"/>
                <a:cs typeface="Arial"/>
              </a:rPr>
              <a:t>OpenAI-compatible API</a:t>
            </a:r>
          </a:p>
        </p:txBody>
      </p:sp>
      <p:sp>
        <p:nvSpPr>
          <p:cNvPr id="13" name="arrow-1">
            <a:extLst xmlns:a="http://schemas.openxmlformats.org/drawingml/2006/main">
              <a:ext uri="{FF2B5EF4-FFF2-40B4-BE49-F238E27FC236}">
                <a16:creationId xmlns:a16="http://schemas.microsoft.com/office/drawing/2014/main" id="{035000F7-C5BE-471F-90F8-79E504CE5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219450"/>
            <a:ext cx="342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444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&gt;</a:t>
            </a:r>
          </a:p>
        </p:txBody>
      </p:sp>
      <p:sp>
        <p:nvSpPr>
          <p:cNvPr id="14" name="arch-3">
            <a:extLst xmlns:a="http://schemas.openxmlformats.org/drawingml/2006/main">
              <a:ext uri="{FF2B5EF4-FFF2-40B4-BE49-F238E27FC236}">
                <a16:creationId xmlns:a16="http://schemas.microsoft.com/office/drawing/2014/main" id="{EFE1988F-9558-4D9D-AEFD-59435F2CD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190750"/>
            <a:ext cx="1952625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arch-n-3">
            <a:extLst xmlns:a="http://schemas.openxmlformats.org/drawingml/2006/main">
              <a:ext uri="{FF2B5EF4-FFF2-40B4-BE49-F238E27FC236}">
                <a16:creationId xmlns:a16="http://schemas.microsoft.com/office/drawing/2014/main" id="{A842D27E-30D9-4F1D-B149-C5DE991D6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3622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" name="arch-t-3">
            <a:extLst xmlns:a="http://schemas.openxmlformats.org/drawingml/2006/main">
              <a:ext uri="{FF2B5EF4-FFF2-40B4-BE49-F238E27FC236}">
                <a16:creationId xmlns:a16="http://schemas.microsoft.com/office/drawing/2014/main" id="{73357245-2862-4388-A1A9-9AFE9A1EB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876550"/>
            <a:ext cx="1571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Safety gate</a:t>
            </a:r>
          </a:p>
        </p:txBody>
      </p:sp>
      <p:sp>
        <p:nvSpPr>
          <p:cNvPr id="17" name="arch-d-3">
            <a:extLst xmlns:a="http://schemas.openxmlformats.org/drawingml/2006/main">
              <a:ext uri="{FF2B5EF4-FFF2-40B4-BE49-F238E27FC236}">
                <a16:creationId xmlns:a16="http://schemas.microsoft.com/office/drawing/2014/main" id="{9C7CB10F-5E90-4B38-971F-9E701856F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6957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21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D515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D5158"/>
                </a:solidFill>
                <a:latin typeface="Arial"/>
                <a:ea typeface="Arial"/>
                <a:cs typeface="Arial"/>
              </a:rPr>
              <a:t>Allowlisted tools,</a:t>
            </a:r>
          </a:p>
          <a:p xmlns:a="http://schemas.openxmlformats.org/drawingml/2006/main">
            <a:pPr algn="l">
              <a:defRPr sz="1350" b="0">
                <a:solidFill>
                  <a:srgbClr val="4D515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D5158"/>
                </a:solidFill>
                <a:latin typeface="Arial"/>
                <a:ea typeface="Arial"/>
                <a:cs typeface="Arial"/>
              </a:rPr>
              <a:t>paths, and timeouts</a:t>
            </a:r>
          </a:p>
        </p:txBody>
      </p:sp>
      <p:sp>
        <p:nvSpPr>
          <p:cNvPr id="18" name="arrow-2">
            <a:extLst xmlns:a="http://schemas.openxmlformats.org/drawingml/2006/main">
              <a:ext uri="{FF2B5EF4-FFF2-40B4-BE49-F238E27FC236}">
                <a16:creationId xmlns:a16="http://schemas.microsoft.com/office/drawing/2014/main" id="{46789EF3-6A8D-44D0-93B6-135A18BA4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219450"/>
            <a:ext cx="342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444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&gt;</a:t>
            </a:r>
          </a:p>
        </p:txBody>
      </p:sp>
      <p:sp>
        <p:nvSpPr>
          <p:cNvPr id="19" name="arch-4">
            <a:extLst xmlns:a="http://schemas.openxmlformats.org/drawingml/2006/main">
              <a:ext uri="{FF2B5EF4-FFF2-40B4-BE49-F238E27FC236}">
                <a16:creationId xmlns:a16="http://schemas.microsoft.com/office/drawing/2014/main" id="{8BDC4975-1F18-4FAD-AC54-5AB04D958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190750"/>
            <a:ext cx="1952625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arch-n-4">
            <a:extLst xmlns:a="http://schemas.openxmlformats.org/drawingml/2006/main">
              <a:ext uri="{FF2B5EF4-FFF2-40B4-BE49-F238E27FC236}">
                <a16:creationId xmlns:a16="http://schemas.microsoft.com/office/drawing/2014/main" id="{FC6F25CB-2686-4EC4-A9E3-BFBEF05C3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622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1" name="arch-t-4">
            <a:extLst xmlns:a="http://schemas.openxmlformats.org/drawingml/2006/main">
              <a:ext uri="{FF2B5EF4-FFF2-40B4-BE49-F238E27FC236}">
                <a16:creationId xmlns:a16="http://schemas.microsoft.com/office/drawing/2014/main" id="{B0CC5C34-D9D2-4FCF-AD57-22922AF40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876550"/>
            <a:ext cx="1571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Executors</a:t>
            </a:r>
          </a:p>
        </p:txBody>
      </p:sp>
      <p:sp>
        <p:nvSpPr>
          <p:cNvPr id="22" name="arch-d-4">
            <a:extLst xmlns:a="http://schemas.openxmlformats.org/drawingml/2006/main">
              <a:ext uri="{FF2B5EF4-FFF2-40B4-BE49-F238E27FC236}">
                <a16:creationId xmlns:a16="http://schemas.microsoft.com/office/drawing/2014/main" id="{19B46C83-7BA7-4897-95D2-557313F13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957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D515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D5158"/>
                </a:solidFill>
                <a:latin typeface="Arial"/>
                <a:ea typeface="Arial"/>
                <a:cs typeface="Arial"/>
              </a:rPr>
              <a:t>Files | apps |</a:t>
            </a:r>
          </a:p>
          <a:p xmlns:a="http://schemas.openxmlformats.org/drawingml/2006/main">
            <a:pPr algn="l">
              <a:defRPr sz="1350" b="0">
                <a:solidFill>
                  <a:srgbClr val="4D515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D5158"/>
                </a:solidFill>
                <a:latin typeface="Arial"/>
                <a:ea typeface="Arial"/>
                <a:cs typeface="Arial"/>
              </a:rPr>
              <a:t>headless browser</a:t>
            </a:r>
          </a:p>
        </p:txBody>
      </p:sp>
      <p:sp>
        <p:nvSpPr>
          <p:cNvPr id="23" name="arrow-3">
            <a:extLst xmlns:a="http://schemas.openxmlformats.org/drawingml/2006/main">
              <a:ext uri="{FF2B5EF4-FFF2-40B4-BE49-F238E27FC236}">
                <a16:creationId xmlns:a16="http://schemas.microsoft.com/office/drawing/2014/main" id="{6B4E3AE4-1F30-412E-BC9B-1ECD6EC04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219450"/>
            <a:ext cx="342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444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&gt;</a:t>
            </a:r>
          </a:p>
        </p:txBody>
      </p:sp>
      <p:sp>
        <p:nvSpPr>
          <p:cNvPr id="24" name="arch-5">
            <a:extLst xmlns:a="http://schemas.openxmlformats.org/drawingml/2006/main">
              <a:ext uri="{FF2B5EF4-FFF2-40B4-BE49-F238E27FC236}">
                <a16:creationId xmlns:a16="http://schemas.microsoft.com/office/drawing/2014/main" id="{A410A41D-957D-4960-8ACE-EA275F35E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190750"/>
            <a:ext cx="14859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arch-n-5">
            <a:extLst xmlns:a="http://schemas.openxmlformats.org/drawingml/2006/main">
              <a:ext uri="{FF2B5EF4-FFF2-40B4-BE49-F238E27FC236}">
                <a16:creationId xmlns:a16="http://schemas.microsoft.com/office/drawing/2014/main" id="{2AB76491-3242-485F-9D47-EFFFD1E2F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3622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6" name="arch-t-5">
            <a:extLst xmlns:a="http://schemas.openxmlformats.org/drawingml/2006/main">
              <a:ext uri="{FF2B5EF4-FFF2-40B4-BE49-F238E27FC236}">
                <a16:creationId xmlns:a16="http://schemas.microsoft.com/office/drawing/2014/main" id="{04A92451-2B3B-44F7-91C6-36BC586A3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876550"/>
            <a:ext cx="1104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Result</a:t>
            </a:r>
          </a:p>
        </p:txBody>
      </p:sp>
      <p:sp>
        <p:nvSpPr>
          <p:cNvPr id="27" name="arch-d-5">
            <a:extLst xmlns:a="http://schemas.openxmlformats.org/drawingml/2006/main">
              <a:ext uri="{FF2B5EF4-FFF2-40B4-BE49-F238E27FC236}">
                <a16:creationId xmlns:a16="http://schemas.microsoft.com/office/drawing/2014/main" id="{3277CEC1-8BC5-468B-8CA7-5DFAE9616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695700"/>
            <a:ext cx="1104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D515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D5158"/>
                </a:solidFill>
                <a:latin typeface="Arial"/>
                <a:ea typeface="Arial"/>
                <a:cs typeface="Arial"/>
              </a:rPr>
              <a:t>Black-text</a:t>
            </a:r>
          </a:p>
          <a:p xmlns:a="http://schemas.openxmlformats.org/drawingml/2006/main">
            <a:pPr algn="l">
              <a:defRPr sz="1350" b="0">
                <a:solidFill>
                  <a:srgbClr val="4D515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D5158"/>
                </a:solidFill>
                <a:latin typeface="Arial"/>
                <a:ea typeface="Arial"/>
                <a:cs typeface="Arial"/>
              </a:rPr>
              <a:t>final answer</a:t>
            </a:r>
          </a:p>
        </p:txBody>
      </p:sp>
      <p:sp>
        <p:nvSpPr>
          <p:cNvPr id="28" name="amd-label-box">
            <a:extLst xmlns:a="http://schemas.openxmlformats.org/drawingml/2006/main">
              <a:ext uri="{FF2B5EF4-FFF2-40B4-BE49-F238E27FC236}">
                <a16:creationId xmlns:a16="http://schemas.microsoft.com/office/drawing/2014/main" id="{0881FBB0-E057-4A49-93CD-FF0BF8DDE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5105400"/>
            <a:ext cx="4429125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amd-label">
            <a:extLst xmlns:a="http://schemas.openxmlformats.org/drawingml/2006/main">
              <a:ext uri="{FF2B5EF4-FFF2-40B4-BE49-F238E27FC236}">
                <a16:creationId xmlns:a16="http://schemas.microsoft.com/office/drawing/2014/main" id="{E8ECC7F3-C757-423B-84E0-E18CFA65E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153025"/>
            <a:ext cx="423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8889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AMD Radeon / ROCm inference boundary</a:t>
            </a:r>
          </a:p>
        </p:txBody>
      </p:sp>
    </p:spTree>
    <p:extLst>
      <p:ext uri="{BB962C8B-B14F-4D97-AF65-F5344CB8AC3E}">
        <p14:creationId xmlns:p14="http://schemas.microsoft.com/office/powerpoint/2010/main" val="202210021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-5">
            <a:extLst xmlns:a="http://schemas.openxmlformats.org/drawingml/2006/main">
              <a:ext uri="{FF2B5EF4-FFF2-40B4-BE49-F238E27FC236}">
                <a16:creationId xmlns:a16="http://schemas.microsoft.com/office/drawing/2014/main" id="{4BDA420B-2D72-409F-A4E1-9DDE8E392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AMD / ROCM PATH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8D05D9DE-B128-4CB8-93B0-0952DE3CA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14375"/>
            <a:ext cx="11391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846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 single provider contract supports cloud and dedicated Radeon inference</a:t>
            </a:r>
          </a:p>
        </p:txBody>
      </p:sp>
      <p:sp>
        <p:nvSpPr>
          <p:cNvPr id="3" name="page-5">
            <a:extLst xmlns:a="http://schemas.openxmlformats.org/drawingml/2006/main">
              <a:ext uri="{FF2B5EF4-FFF2-40B4-BE49-F238E27FC236}">
                <a16:creationId xmlns:a16="http://schemas.microsoft.com/office/drawing/2014/main" id="{3300B1FE-A2F9-4922-BAE0-C0D5FAA0A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D62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26A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amd-left">
            <a:extLst xmlns:a="http://schemas.openxmlformats.org/drawingml/2006/main">
              <a:ext uri="{FF2B5EF4-FFF2-40B4-BE49-F238E27FC236}">
                <a16:creationId xmlns:a16="http://schemas.microsoft.com/office/drawing/2014/main" id="{ED810E91-4072-49E3-BBDF-127252BA0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28800"/>
            <a:ext cx="68580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amd-provider-box">
            <a:extLst xmlns:a="http://schemas.openxmlformats.org/drawingml/2006/main">
              <a:ext uri="{FF2B5EF4-FFF2-40B4-BE49-F238E27FC236}">
                <a16:creationId xmlns:a16="http://schemas.microsoft.com/office/drawing/2014/main" id="{CD67DE54-0BD8-424C-B484-1E2A591FB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43125"/>
            <a:ext cx="29527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amd-provider">
            <a:extLst xmlns:a="http://schemas.openxmlformats.org/drawingml/2006/main">
              <a:ext uri="{FF2B5EF4-FFF2-40B4-BE49-F238E27FC236}">
                <a16:creationId xmlns:a16="http://schemas.microsoft.com/office/drawing/2014/main" id="{BAC834EC-A8D1-415A-8BA0-FC7ACAEE2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90750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8889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AMD RADEON CLOUD / ROCm</a:t>
            </a:r>
          </a:p>
        </p:txBody>
      </p:sp>
      <p:sp>
        <p:nvSpPr>
          <p:cNvPr id="7" name="amd-flow">
            <a:extLst xmlns:a="http://schemas.openxmlformats.org/drawingml/2006/main">
              <a:ext uri="{FF2B5EF4-FFF2-40B4-BE49-F238E27FC236}">
                <a16:creationId xmlns:a16="http://schemas.microsoft.com/office/drawing/2014/main" id="{EA4CE3B8-8BAC-4A06-90FB-DA1C2A1B0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62250"/>
            <a:ext cx="5905500" cy="234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AutoFlow</a:t>
            </a:r>
          </a:p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    ↓</a:t>
            </a:r>
          </a:p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OpenAI-compatible HTTPS endpoint</a:t>
            </a:r>
          </a:p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    ↓</a:t>
            </a:r>
          </a:p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Model served on AMD Radeon + ROCm</a:t>
            </a:r>
          </a:p>
        </p:txBody>
      </p:sp>
      <p:sp>
        <p:nvSpPr>
          <p:cNvPr id="8" name="amd-note">
            <a:extLst xmlns:a="http://schemas.openxmlformats.org/drawingml/2006/main">
              <a:ext uri="{FF2B5EF4-FFF2-40B4-BE49-F238E27FC236}">
                <a16:creationId xmlns:a16="http://schemas.microsoft.com/office/drawing/2014/main" id="{3E3294D6-7616-4D05-9B6D-1548E4B94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14950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6DAE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6DAE1"/>
                </a:solidFill>
                <a:latin typeface="Arial"/>
                <a:ea typeface="Arial"/>
                <a:cs typeface="Arial"/>
              </a:rPr>
              <a:t>Shared Radeon Cloud API or a dedicated vLLM endpoint</a:t>
            </a:r>
          </a:p>
        </p:txBody>
      </p:sp>
      <p:sp>
        <p:nvSpPr>
          <p:cNvPr id="9" name="amd-right-title">
            <a:extLst xmlns:a="http://schemas.openxmlformats.org/drawingml/2006/main">
              <a:ext uri="{FF2B5EF4-FFF2-40B4-BE49-F238E27FC236}">
                <a16:creationId xmlns:a16="http://schemas.microsoft.com/office/drawing/2014/main" id="{64C9384F-B169-4A9C-8A2B-6A64FE9C9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952625"/>
            <a:ext cx="361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Built-in reproducibility</a:t>
            </a:r>
          </a:p>
        </p:txBody>
      </p:sp>
      <p:sp>
        <p:nvSpPr>
          <p:cNvPr id="10" name="amd-check-0">
            <a:extLst xmlns:a="http://schemas.openxmlformats.org/drawingml/2006/main">
              <a:ext uri="{FF2B5EF4-FFF2-40B4-BE49-F238E27FC236}">
                <a16:creationId xmlns:a16="http://schemas.microsoft.com/office/drawing/2014/main" id="{E4F67280-6724-4256-BB60-BC8CC2C7A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1462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30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OK</a:t>
            </a:r>
          </a:p>
        </p:txBody>
      </p:sp>
      <p:sp>
        <p:nvSpPr>
          <p:cNvPr id="11" name="amd-item-0">
            <a:extLst xmlns:a="http://schemas.openxmlformats.org/drawingml/2006/main">
              <a:ext uri="{FF2B5EF4-FFF2-40B4-BE49-F238E27FC236}">
                <a16:creationId xmlns:a16="http://schemas.microsoft.com/office/drawing/2014/main" id="{E532A39B-8CF6-4260-80E2-F65B84447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670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Environment probe</a:t>
            </a:r>
          </a:p>
        </p:txBody>
      </p:sp>
      <p:sp>
        <p:nvSpPr>
          <p:cNvPr id="12" name="amd-desc-0">
            <a:extLst xmlns:a="http://schemas.openxmlformats.org/drawingml/2006/main">
              <a:ext uri="{FF2B5EF4-FFF2-40B4-BE49-F238E27FC236}">
                <a16:creationId xmlns:a16="http://schemas.microsoft.com/office/drawing/2014/main" id="{A3955C70-66E0-47E5-A251-BF04AA276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000375"/>
            <a:ext cx="304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02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D515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D5158"/>
                </a:solidFill>
                <a:latin typeface="Arial"/>
                <a:ea typeface="Arial"/>
                <a:cs typeface="Arial"/>
              </a:rPr>
              <a:t>Detect Radeon GPU, ROCm/HIP tools, and torch HIP state.</a:t>
            </a:r>
          </a:p>
        </p:txBody>
      </p:sp>
      <p:sp>
        <p:nvSpPr>
          <p:cNvPr id="13" name="amd-check-1">
            <a:extLst xmlns:a="http://schemas.openxmlformats.org/drawingml/2006/main">
              <a:ext uri="{FF2B5EF4-FFF2-40B4-BE49-F238E27FC236}">
                <a16:creationId xmlns:a16="http://schemas.microsoft.com/office/drawing/2014/main" id="{7A9BADC1-04A4-40C7-A472-674D3D282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6712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30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OK</a:t>
            </a:r>
          </a:p>
        </p:txBody>
      </p:sp>
      <p:sp>
        <p:nvSpPr>
          <p:cNvPr id="14" name="amd-item-1">
            <a:extLst xmlns:a="http://schemas.openxmlformats.org/drawingml/2006/main">
              <a:ext uri="{FF2B5EF4-FFF2-40B4-BE49-F238E27FC236}">
                <a16:creationId xmlns:a16="http://schemas.microsoft.com/office/drawing/2014/main" id="{5B6E2B8C-5711-4ABD-A93D-EB9653D02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6195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Endpoint benchmark</a:t>
            </a:r>
          </a:p>
        </p:txBody>
      </p:sp>
      <p:sp>
        <p:nvSpPr>
          <p:cNvPr id="15" name="amd-desc-1">
            <a:extLst xmlns:a="http://schemas.openxmlformats.org/drawingml/2006/main">
              <a:ext uri="{FF2B5EF4-FFF2-40B4-BE49-F238E27FC236}">
                <a16:creationId xmlns:a16="http://schemas.microsoft.com/office/drawing/2014/main" id="{BBB6D9C4-94BA-4901-9ED5-89AE4F1C4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952875"/>
            <a:ext cx="304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02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D515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D5158"/>
                </a:solidFill>
                <a:latin typeface="Arial"/>
                <a:ea typeface="Arial"/>
                <a:cs typeface="Arial"/>
              </a:rPr>
              <a:t>Record model, host, latency, and response size - never the API key.</a:t>
            </a:r>
          </a:p>
        </p:txBody>
      </p:sp>
      <p:sp>
        <p:nvSpPr>
          <p:cNvPr id="16" name="amd-check-2">
            <a:extLst xmlns:a="http://schemas.openxmlformats.org/drawingml/2006/main">
              <a:ext uri="{FF2B5EF4-FFF2-40B4-BE49-F238E27FC236}">
                <a16:creationId xmlns:a16="http://schemas.microsoft.com/office/drawing/2014/main" id="{98CED427-343B-49CF-A629-8294A19E3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61962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30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OK</a:t>
            </a:r>
          </a:p>
        </p:txBody>
      </p:sp>
      <p:sp>
        <p:nvSpPr>
          <p:cNvPr id="17" name="amd-item-2">
            <a:extLst xmlns:a="http://schemas.openxmlformats.org/drawingml/2006/main">
              <a:ext uri="{FF2B5EF4-FFF2-40B4-BE49-F238E27FC236}">
                <a16:creationId xmlns:a16="http://schemas.microsoft.com/office/drawing/2014/main" id="{8D33B9A5-9E37-4C47-8E41-25847A356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5720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Fail-closed evidence</a:t>
            </a:r>
          </a:p>
        </p:txBody>
      </p:sp>
      <p:sp>
        <p:nvSpPr>
          <p:cNvPr id="18" name="amd-desc-2">
            <a:extLst xmlns:a="http://schemas.openxmlformats.org/drawingml/2006/main">
              <a:ext uri="{FF2B5EF4-FFF2-40B4-BE49-F238E27FC236}">
                <a16:creationId xmlns:a16="http://schemas.microsoft.com/office/drawing/2014/main" id="{C8CA3D57-F6B4-40A2-A9B8-E2F22F40D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905375"/>
            <a:ext cx="304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02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D515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D5158"/>
                </a:solidFill>
                <a:latin typeface="Arial"/>
                <a:ea typeface="Arial"/>
                <a:cs typeface="Arial"/>
              </a:rPr>
              <a:t>An Intel-only machine cannot be mistaken for AMD validation.</a:t>
            </a:r>
          </a:p>
        </p:txBody>
      </p:sp>
    </p:spTree>
    <p:extLst>
      <p:ext uri="{BB962C8B-B14F-4D97-AF65-F5344CB8AC3E}">
        <p14:creationId xmlns:p14="http://schemas.microsoft.com/office/powerpoint/2010/main" val="182081551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eyebrow-6">
            <a:extLst xmlns:a="http://schemas.openxmlformats.org/drawingml/2006/main">
              <a:ext uri="{FF2B5EF4-FFF2-40B4-BE49-F238E27FC236}">
                <a16:creationId xmlns:a16="http://schemas.microsoft.com/office/drawing/2014/main" id="{3E4C84C5-54C3-4564-A4B4-F99C2E36C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TRUST BY DESIGN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A9A114A5-DF6F-4A86-A520-D4082EC1B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14375"/>
            <a:ext cx="11391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2375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Automation is useful only when its actions are bounded and reviewable</a:t>
            </a:r>
          </a:p>
        </p:txBody>
      </p:sp>
      <p:sp>
        <p:nvSpPr>
          <p:cNvPr id="3" name="page-6">
            <a:extLst xmlns:a="http://schemas.openxmlformats.org/drawingml/2006/main">
              <a:ext uri="{FF2B5EF4-FFF2-40B4-BE49-F238E27FC236}">
                <a16:creationId xmlns:a16="http://schemas.microsoft.com/office/drawing/2014/main" id="{3956F1F0-22EA-4687-840F-C52073E2C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D62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26A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trust-num-0">
            <a:extLst xmlns:a="http://schemas.openxmlformats.org/drawingml/2006/main">
              <a:ext uri="{FF2B5EF4-FFF2-40B4-BE49-F238E27FC236}">
                <a16:creationId xmlns:a16="http://schemas.microsoft.com/office/drawing/2014/main" id="{FA31715B-C8BB-4411-A451-A66C50E60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rust-icon-0">
            <a:extLst xmlns:a="http://schemas.openxmlformats.org/drawingml/2006/main">
              <a:ext uri="{FF2B5EF4-FFF2-40B4-BE49-F238E27FC236}">
                <a16:creationId xmlns:a16="http://schemas.microsoft.com/office/drawing/2014/main" id="{67B546FB-C755-4CE1-966E-9FF9B5625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685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476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trust-title-0">
            <a:extLst xmlns:a="http://schemas.openxmlformats.org/drawingml/2006/main">
              <a:ext uri="{FF2B5EF4-FFF2-40B4-BE49-F238E27FC236}">
                <a16:creationId xmlns:a16="http://schemas.microsoft.com/office/drawing/2014/main" id="{FD113EF0-8D6B-4D1E-A9CA-C6BC160A6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819275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Permission-aware</a:t>
            </a:r>
          </a:p>
        </p:txBody>
      </p:sp>
      <p:sp>
        <p:nvSpPr>
          <p:cNvPr id="7" name="trust-desc-0">
            <a:extLst xmlns:a="http://schemas.openxmlformats.org/drawingml/2006/main">
              <a:ext uri="{FF2B5EF4-FFF2-40B4-BE49-F238E27FC236}">
                <a16:creationId xmlns:a16="http://schemas.microsoft.com/office/drawing/2014/main" id="{E541AB33-3234-4B76-B8D7-9AB3ABC82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819275"/>
            <a:ext cx="685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Tools enforce execution boundaries before acting.</a:t>
            </a:r>
          </a:p>
        </p:txBody>
      </p:sp>
      <p:cxnSp>
        <p:nvCxnSpPr>
          <p:cNvPr id="31" name="rule-150-268"/>
          <p:cNvCxnSpPr/>
          <p:nvPr/>
        </p:nvCxnSpPr>
        <p:spPr>
          <a:xfrm xmlns:a="http://schemas.openxmlformats.org/drawingml/2006/main">
            <a:off x="1428750" y="2552700"/>
            <a:ext cx="97155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7D9DD"/>
            </a:solidFill>
            <a:prstDash val="solid"/>
          </a:ln>
        </p:spPr>
      </p:cxnSp>
      <p:sp>
        <p:nvSpPr>
          <p:cNvPr id="9" name="trust-num-1">
            <a:extLst xmlns:a="http://schemas.openxmlformats.org/drawingml/2006/main">
              <a:ext uri="{FF2B5EF4-FFF2-40B4-BE49-F238E27FC236}">
                <a16:creationId xmlns:a16="http://schemas.microsoft.com/office/drawing/2014/main" id="{033C23D3-4596-435D-9FAA-E5C2FE3DF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09875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rust-icon-1">
            <a:extLst xmlns:a="http://schemas.openxmlformats.org/drawingml/2006/main">
              <a:ext uri="{FF2B5EF4-FFF2-40B4-BE49-F238E27FC236}">
                <a16:creationId xmlns:a16="http://schemas.microsoft.com/office/drawing/2014/main" id="{4457B2FE-DE4A-466F-9A51-2772B0A31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52750"/>
            <a:ext cx="685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476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trust-title-1">
            <a:extLst xmlns:a="http://schemas.openxmlformats.org/drawingml/2006/main">
              <a:ext uri="{FF2B5EF4-FFF2-40B4-BE49-F238E27FC236}">
                <a16:creationId xmlns:a16="http://schemas.microsoft.com/office/drawing/2014/main" id="{6BC0CE50-3077-49EC-B3BD-54A9B6C11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1940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Secret-safe</a:t>
            </a:r>
          </a:p>
        </p:txBody>
      </p:sp>
      <p:sp>
        <p:nvSpPr>
          <p:cNvPr id="12" name="trust-desc-1">
            <a:extLst xmlns:a="http://schemas.openxmlformats.org/drawingml/2006/main">
              <a:ext uri="{FF2B5EF4-FFF2-40B4-BE49-F238E27FC236}">
                <a16:creationId xmlns:a16="http://schemas.microsoft.com/office/drawing/2014/main" id="{80B93B3E-8B18-4B74-830E-92631EE30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819400"/>
            <a:ext cx="685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Credentials stay in local settings; evidence files exclude keys.</a:t>
            </a:r>
          </a:p>
        </p:txBody>
      </p:sp>
      <p:cxnSp>
        <p:nvCxnSpPr>
          <p:cNvPr id="36" name="rule-150-373"/>
          <p:cNvCxnSpPr/>
          <p:nvPr/>
        </p:nvCxnSpPr>
        <p:spPr>
          <a:xfrm xmlns:a="http://schemas.openxmlformats.org/drawingml/2006/main">
            <a:off x="1428750" y="3552825"/>
            <a:ext cx="97155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7D9DD"/>
            </a:solidFill>
            <a:prstDash val="solid"/>
          </a:ln>
        </p:spPr>
      </p:cxnSp>
      <p:sp>
        <p:nvSpPr>
          <p:cNvPr id="14" name="trust-num-2">
            <a:extLst xmlns:a="http://schemas.openxmlformats.org/drawingml/2006/main">
              <a:ext uri="{FF2B5EF4-FFF2-40B4-BE49-F238E27FC236}">
                <a16:creationId xmlns:a16="http://schemas.microsoft.com/office/drawing/2014/main" id="{AFF626BC-ADB8-448F-BB4F-712201AAF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5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rust-icon-2">
            <a:extLst xmlns:a="http://schemas.openxmlformats.org/drawingml/2006/main">
              <a:ext uri="{FF2B5EF4-FFF2-40B4-BE49-F238E27FC236}">
                <a16:creationId xmlns:a16="http://schemas.microsoft.com/office/drawing/2014/main" id="{19740D5D-5372-4EAE-A53D-4E350391F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52875"/>
            <a:ext cx="685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476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" name="trust-title-2">
            <a:extLst xmlns:a="http://schemas.openxmlformats.org/drawingml/2006/main">
              <a:ext uri="{FF2B5EF4-FFF2-40B4-BE49-F238E27FC236}">
                <a16:creationId xmlns:a16="http://schemas.microsoft.com/office/drawing/2014/main" id="{FD057DDF-5A6F-4037-AE72-3DBC98FF9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19525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Observable</a:t>
            </a:r>
          </a:p>
        </p:txBody>
      </p:sp>
      <p:sp>
        <p:nvSpPr>
          <p:cNvPr id="17" name="trust-desc-2">
            <a:extLst xmlns:a="http://schemas.openxmlformats.org/drawingml/2006/main">
              <a:ext uri="{FF2B5EF4-FFF2-40B4-BE49-F238E27FC236}">
                <a16:creationId xmlns:a16="http://schemas.microsoft.com/office/drawing/2014/main" id="{0C21481D-DBC2-4820-ACD9-A27527A87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819525"/>
            <a:ext cx="685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UI separates transient reasoning status from the final response.</a:t>
            </a:r>
          </a:p>
        </p:txBody>
      </p:sp>
      <p:cxnSp>
        <p:nvCxnSpPr>
          <p:cNvPr id="41" name="rule-150-478"/>
          <p:cNvCxnSpPr/>
          <p:nvPr/>
        </p:nvCxnSpPr>
        <p:spPr>
          <a:xfrm xmlns:a="http://schemas.openxmlformats.org/drawingml/2006/main">
            <a:off x="1428750" y="4552950"/>
            <a:ext cx="97155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7D9DD"/>
            </a:solidFill>
            <a:prstDash val="solid"/>
          </a:ln>
        </p:spPr>
      </p:cxnSp>
      <p:sp>
        <p:nvSpPr>
          <p:cNvPr id="19" name="trust-num-3">
            <a:extLst xmlns:a="http://schemas.openxmlformats.org/drawingml/2006/main">
              <a:ext uri="{FF2B5EF4-FFF2-40B4-BE49-F238E27FC236}">
                <a16:creationId xmlns:a16="http://schemas.microsoft.com/office/drawing/2014/main" id="{ED7814DA-A04B-4344-9D8E-598B9669C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10125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rust-icon-3">
            <a:extLst xmlns:a="http://schemas.openxmlformats.org/drawingml/2006/main">
              <a:ext uri="{FF2B5EF4-FFF2-40B4-BE49-F238E27FC236}">
                <a16:creationId xmlns:a16="http://schemas.microsoft.com/office/drawing/2014/main" id="{BA6EAB5A-CDA7-465E-8FCE-5A391E789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0"/>
            <a:ext cx="685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476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1" name="trust-title-3">
            <a:extLst xmlns:a="http://schemas.openxmlformats.org/drawingml/2006/main">
              <a:ext uri="{FF2B5EF4-FFF2-40B4-BE49-F238E27FC236}">
                <a16:creationId xmlns:a16="http://schemas.microsoft.com/office/drawing/2014/main" id="{4ABA2D9D-E332-4B3A-A118-813AD48CF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1965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Tested</a:t>
            </a:r>
          </a:p>
        </p:txBody>
      </p:sp>
      <p:sp>
        <p:nvSpPr>
          <p:cNvPr id="22" name="trust-desc-3">
            <a:extLst xmlns:a="http://schemas.openxmlformats.org/drawingml/2006/main">
              <a:ext uri="{FF2B5EF4-FFF2-40B4-BE49-F238E27FC236}">
                <a16:creationId xmlns:a16="http://schemas.microsoft.com/office/drawing/2014/main" id="{51354E87-058A-4217-AC85-E0AC2BD4D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819650"/>
            <a:ext cx="685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Unit tests cover providers, the Web UI contract, and AMD detection.</a:t>
            </a:r>
          </a:p>
        </p:txBody>
      </p:sp>
      <p:cxnSp>
        <p:nvCxnSpPr>
          <p:cNvPr id="46" name="rule-150-583"/>
          <p:cNvCxnSpPr/>
          <p:nvPr/>
        </p:nvCxnSpPr>
        <p:spPr>
          <a:xfrm xmlns:a="http://schemas.openxmlformats.org/drawingml/2006/main">
            <a:off x="1428750" y="5553075"/>
            <a:ext cx="97155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7D9DD"/>
            </a:solidFill>
            <a:prstDash val="solid"/>
          </a:ln>
        </p:spPr>
      </p:cxnSp>
    </p:spTree>
    <p:extLst>
      <p:ext uri="{BB962C8B-B14F-4D97-AF65-F5344CB8AC3E}">
        <p14:creationId xmlns:p14="http://schemas.microsoft.com/office/powerpoint/2010/main" val="143121344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eyebrow-7">
            <a:extLst xmlns:a="http://schemas.openxmlformats.org/drawingml/2006/main">
              <a:ext uri="{FF2B5EF4-FFF2-40B4-BE49-F238E27FC236}">
                <a16:creationId xmlns:a16="http://schemas.microsoft.com/office/drawing/2014/main" id="{1C337900-3E7E-43F2-88DB-3802352B6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SUBMISSION READINESS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41E9305A-435F-4FB2-8555-8AFE3D63C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14375"/>
            <a:ext cx="11391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software package is ready; one truthful hardware run completes the proof</a:t>
            </a:r>
          </a:p>
        </p:txBody>
      </p:sp>
      <p:sp>
        <p:nvSpPr>
          <p:cNvPr id="3" name="page-7">
            <a:extLst xmlns:a="http://schemas.openxmlformats.org/drawingml/2006/main">
              <a:ext uri="{FF2B5EF4-FFF2-40B4-BE49-F238E27FC236}">
                <a16:creationId xmlns:a16="http://schemas.microsoft.com/office/drawing/2014/main" id="{5059EA46-BB12-4795-B133-697786174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D62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26A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status-42">
            <a:extLst xmlns:a="http://schemas.openxmlformats.org/drawingml/2006/main">
              <a:ext uri="{FF2B5EF4-FFF2-40B4-BE49-F238E27FC236}">
                <a16:creationId xmlns:a16="http://schemas.microsoft.com/office/drawing/2014/main" id="{D8175480-B137-4520-83D3-00942DD7D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38375"/>
            <a:ext cx="3581400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tatus-word-42">
            <a:extLst xmlns:a="http://schemas.openxmlformats.org/drawingml/2006/main">
              <a:ext uri="{FF2B5EF4-FFF2-40B4-BE49-F238E27FC236}">
                <a16:creationId xmlns:a16="http://schemas.microsoft.com/office/drawing/2014/main" id="{364E476E-5BFC-4838-B98F-CE468F5CB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0"/>
            <a:ext cx="304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47D64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7D64"/>
                </a:solidFill>
                <a:latin typeface="Arial"/>
                <a:ea typeface="Arial"/>
                <a:cs typeface="Arial"/>
              </a:rPr>
              <a:t>READY</a:t>
            </a:r>
          </a:p>
        </p:txBody>
      </p:sp>
      <p:sp>
        <p:nvSpPr>
          <p:cNvPr id="6" name="status-desc-42">
            <a:extLst xmlns:a="http://schemas.openxmlformats.org/drawingml/2006/main">
              <a:ext uri="{FF2B5EF4-FFF2-40B4-BE49-F238E27FC236}">
                <a16:creationId xmlns:a16="http://schemas.microsoft.com/office/drawing/2014/main" id="{76B4D321-EFC3-4A14-9131-F9774E52C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24250"/>
            <a:ext cx="3048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English source, setup, specification, architecture, and demo script</a:t>
            </a:r>
          </a:p>
        </p:txBody>
      </p:sp>
      <p:sp>
        <p:nvSpPr>
          <p:cNvPr id="7" name="status-452">
            <a:extLst xmlns:a="http://schemas.openxmlformats.org/drawingml/2006/main">
              <a:ext uri="{FF2B5EF4-FFF2-40B4-BE49-F238E27FC236}">
                <a16:creationId xmlns:a16="http://schemas.microsoft.com/office/drawing/2014/main" id="{648F3A1A-62CC-48C0-8887-C7603C797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238375"/>
            <a:ext cx="3581400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tatus-word-452">
            <a:extLst xmlns:a="http://schemas.openxmlformats.org/drawingml/2006/main">
              <a:ext uri="{FF2B5EF4-FFF2-40B4-BE49-F238E27FC236}">
                <a16:creationId xmlns:a16="http://schemas.microsoft.com/office/drawing/2014/main" id="{D418DF12-D3D3-4BA6-ABA4-AB0C29A71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571750"/>
            <a:ext cx="304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READY</a:t>
            </a:r>
          </a:p>
        </p:txBody>
      </p:sp>
      <p:sp>
        <p:nvSpPr>
          <p:cNvPr id="9" name="status-desc-452">
            <a:extLst xmlns:a="http://schemas.openxmlformats.org/drawingml/2006/main">
              <a:ext uri="{FF2B5EF4-FFF2-40B4-BE49-F238E27FC236}">
                <a16:creationId xmlns:a16="http://schemas.microsoft.com/office/drawing/2014/main" id="{EF2FCB51-F949-471D-9C32-171F1CEF3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524250"/>
            <a:ext cx="3048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AMD provider, environment probe, benchmark, and regression tests</a:t>
            </a:r>
          </a:p>
        </p:txBody>
      </p:sp>
      <p:sp>
        <p:nvSpPr>
          <p:cNvPr id="10" name="status-862">
            <a:extLst xmlns:a="http://schemas.openxmlformats.org/drawingml/2006/main">
              <a:ext uri="{FF2B5EF4-FFF2-40B4-BE49-F238E27FC236}">
                <a16:creationId xmlns:a16="http://schemas.microsoft.com/office/drawing/2014/main" id="{BA41F8A6-3FFC-47BA-A6D2-9ED1E3EEF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238375"/>
            <a:ext cx="3581400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tatus-word-862">
            <a:extLst xmlns:a="http://schemas.openxmlformats.org/drawingml/2006/main">
              <a:ext uri="{FF2B5EF4-FFF2-40B4-BE49-F238E27FC236}">
                <a16:creationId xmlns:a16="http://schemas.microsoft.com/office/drawing/2014/main" id="{9C2519CC-B24F-4389-A223-92503B28D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571750"/>
            <a:ext cx="304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B85C00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B85C00"/>
                </a:solidFill>
                <a:latin typeface="Arial"/>
                <a:ea typeface="Arial"/>
                <a:cs typeface="Arial"/>
              </a:rPr>
              <a:t>REQUIRED</a:t>
            </a:r>
          </a:p>
        </p:txBody>
      </p:sp>
      <p:sp>
        <p:nvSpPr>
          <p:cNvPr id="12" name="status-desc-862">
            <a:extLst xmlns:a="http://schemas.openxmlformats.org/drawingml/2006/main">
              <a:ext uri="{FF2B5EF4-FFF2-40B4-BE49-F238E27FC236}">
                <a16:creationId xmlns:a16="http://schemas.microsoft.com/office/drawing/2014/main" id="{AC883EC2-8971-417B-A1F9-AECB5985F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524250"/>
            <a:ext cx="3048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3-5 minute demo and captured evidence from an AMD Radeon + ROCm host</a:t>
            </a:r>
          </a:p>
        </p:txBody>
      </p:sp>
      <p:sp>
        <p:nvSpPr>
          <p:cNvPr id="13" name="closing">
            <a:extLst xmlns:a="http://schemas.openxmlformats.org/drawingml/2006/main">
              <a:ext uri="{FF2B5EF4-FFF2-40B4-BE49-F238E27FC236}">
                <a16:creationId xmlns:a16="http://schemas.microsoft.com/office/drawing/2014/main" id="{117D4D12-A939-4084-A35E-EE6F5B130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1975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Run the included scripts on Radeon Cloud, record the demo, then submit the PR.</a:t>
            </a:r>
          </a:p>
        </p:txBody>
      </p:sp>
    </p:spTree>
    <p:extLst>
      <p:ext uri="{BB962C8B-B14F-4D97-AF65-F5344CB8AC3E}">
        <p14:creationId xmlns:p14="http://schemas.microsoft.com/office/powerpoint/2010/main" val="90590261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2026-08-06T08:31:54.7400000Z</dcterms:created>
  <dcterms:modified xsi:type="dcterms:W3CDTF">2026-08-06T08:31:54.7400000Z</dcterms:modified>
</coreProperties>
</file>